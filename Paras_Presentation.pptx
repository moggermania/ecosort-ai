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C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ste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188720"/>
            <a:ext cx="3611880" cy="1372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0"/>
            <a:ext cx="6583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C3027"/>
                </a:solidFill>
              </a:defRPr>
            </a:pPr>
            <a:r>
              <a:t>♻ Paras</a:t>
            </a:r>
          </a:p>
          <a:p>
            <a:pPr>
              <a:defRPr sz="2200">
                <a:solidFill>
                  <a:srgbClr val="596D63"/>
                </a:solidFill>
              </a:defRPr>
            </a:pPr>
            <a:r>
              <a:t>AI-Powered Smart Waste Segregation</a:t>
            </a:r>
            <a:br/>
            <a:r>
              <a:t>&amp; Recycling Assistant</a:t>
            </a:r>
          </a:p>
          <a:p>
            <a:pPr>
              <a:spcBef>
                <a:spcPts val="1800"/>
              </a:spcBef>
              <a:defRPr sz="1400" b="1">
                <a:solidFill>
                  <a:srgbClr val="2E7D5C"/>
                </a:solidFill>
              </a:defRPr>
            </a:pPr>
            <a:r>
              <a:t>1M1B AI for Sustainability Virtual Internship</a:t>
            </a:r>
          </a:p>
          <a:p>
            <a:pPr>
              <a:defRPr sz="1300">
                <a:solidFill>
                  <a:srgbClr val="1C3027"/>
                </a:solidFill>
              </a:defRPr>
            </a:pPr>
            <a:r>
              <a:t>Parul • B.Tech CSE</a:t>
            </a:r>
          </a:p>
          <a:p>
            <a:pPr>
              <a:defRPr sz="1100">
                <a:solidFill>
                  <a:srgbClr val="596D63"/>
                </a:solidFill>
              </a:defRPr>
            </a:pPr>
            <a:r>
              <a:t>Sardar Beant Singh State University, Gurdaspur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A practical AI-for-sustainability prototype aligned with SDG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9928"/>
            <a:ext cx="4480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5C"/>
                </a:solidFill>
              </a:defRPr>
            </a:pPr>
            <a:r>
              <a:t>01  Problem</a:t>
            </a:r>
          </a:p>
          <a:p>
            <a:pPr>
              <a:defRPr sz="1100">
                <a:solidFill>
                  <a:srgbClr val="596D63"/>
                </a:solidFill>
              </a:defRPr>
            </a:pPr>
            <a:r>
              <a:t>Waste classification and disposal can be confusing.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09928"/>
            <a:ext cx="4480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5C"/>
                </a:solidFill>
              </a:defRPr>
            </a:pPr>
            <a:r>
              <a:t>02  AI Solution</a:t>
            </a:r>
          </a:p>
          <a:p>
            <a:pPr>
              <a:defRPr sz="1100">
                <a:solidFill>
                  <a:srgbClr val="596D63"/>
                </a:solidFill>
              </a:defRPr>
            </a:pPr>
            <a:r>
              <a:t>Text classification + structured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7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13048"/>
            <a:ext cx="4480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5C"/>
                </a:solidFill>
              </a:defRPr>
            </a:pPr>
            <a:r>
              <a:t>03  Prototype</a:t>
            </a:r>
          </a:p>
          <a:p>
            <a:pPr>
              <a:defRPr sz="1100">
                <a:solidFill>
                  <a:srgbClr val="596D63"/>
                </a:solidFill>
              </a:defRPr>
            </a:pPr>
            <a:r>
              <a:t>Python + Streamlit interactive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61187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813048"/>
            <a:ext cx="4480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E7D5C"/>
                </a:solidFill>
              </a:defRPr>
            </a:pPr>
            <a:r>
              <a:t>04  Impact</a:t>
            </a:r>
          </a:p>
          <a:p>
            <a:pPr>
              <a:defRPr sz="1100">
                <a:solidFill>
                  <a:srgbClr val="596D63"/>
                </a:solidFill>
              </a:defRPr>
            </a:pPr>
            <a:r>
              <a:t>Better awareness and informed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A simple everyday sustainability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1E1C"/>
                </a:solidFill>
              </a:defRPr>
            </a:pPr>
            <a:r>
              <a:t>• People encounter many different waste materials in daily life.</a:t>
            </a:r>
          </a:p>
          <a:p>
            <a:pPr>
              <a:spcAft>
                <a:spcPts val="1200"/>
              </a:spcAft>
              <a:defRPr sz="1800">
                <a:solidFill>
                  <a:srgbClr val="191E1C"/>
                </a:solidFill>
              </a:defRPr>
            </a:pPr>
            <a:r>
              <a:t>• Plastics, food scraps, batteries and electronics may need different handling.</a:t>
            </a:r>
          </a:p>
          <a:p>
            <a:pPr>
              <a:spcAft>
                <a:spcPts val="1200"/>
              </a:spcAft>
              <a:defRPr sz="1800">
                <a:solidFill>
                  <a:srgbClr val="191E1C"/>
                </a:solidFill>
              </a:defRPr>
            </a:pPr>
            <a:r>
              <a:t>• Users may know recycling matters but still be unsure what category an item belongs to.</a:t>
            </a:r>
          </a:p>
          <a:p>
            <a:pPr>
              <a:spcAft>
                <a:spcPts val="1200"/>
              </a:spcAft>
              <a:defRPr sz="1800">
                <a:solidFill>
                  <a:srgbClr val="191E1C"/>
                </a:solidFill>
              </a:defRPr>
            </a:pPr>
            <a:r>
              <a:t>• Paras provides accessible decision support while keeping official local guidance as the final reference.</a:t>
            </a:r>
          </a:p>
        </p:txBody>
      </p:sp>
      <p:pic>
        <p:nvPicPr>
          <p:cNvPr id="6" name="Picture 5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45920"/>
            <a:ext cx="4069080" cy="22978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600200"/>
            <a:ext cx="10149840" cy="3154680"/>
          </a:xfrm>
          <a:prstGeom prst="roundRect">
            <a:avLst/>
          </a:prstGeom>
          <a:solidFill>
            <a:srgbClr val="E1EDE6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103120"/>
            <a:ext cx="9326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C3027"/>
                </a:solidFill>
              </a:defRPr>
            </a:pPr>
            <a:r>
              <a:t>“How might we use AI to help people identify and properly segregate everyday waste so that waste management and responsible consumption can become more sustainable?”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Primary focus: SDG 12 — Responsible Consumption and Production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2743200" cy="2743200"/>
          </a:xfrm>
          <a:prstGeom prst="ellipse">
            <a:avLst/>
          </a:prstGeom>
          <a:solidFill>
            <a:srgbClr val="2E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286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SDG</a:t>
            </a:r>
          </a:p>
          <a:p>
            <a:pPr algn="ctr">
              <a:defRPr sz="45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83080"/>
            <a:ext cx="6675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91E1C"/>
                </a:solidFill>
              </a:defRPr>
            </a:pPr>
            <a:r>
              <a:t>• Supports awareness around responsible consumption and waste handling.</a:t>
            </a:r>
          </a:p>
          <a:p>
            <a:pPr>
              <a:spcAft>
                <a:spcPts val="1200"/>
              </a:spcAft>
              <a:defRPr sz="2000">
                <a:solidFill>
                  <a:srgbClr val="191E1C"/>
                </a:solidFill>
              </a:defRPr>
            </a:pPr>
            <a:r>
              <a:t>• Encourages recycling, reuse, composting and appropriate disposal.</a:t>
            </a:r>
          </a:p>
          <a:p>
            <a:pPr>
              <a:spcAft>
                <a:spcPts val="1200"/>
              </a:spcAft>
              <a:defRPr sz="2000">
                <a:solidFill>
                  <a:srgbClr val="191E1C"/>
                </a:solidFill>
              </a:defRPr>
            </a:pPr>
            <a:r>
              <a:t>• Uses AI as decision support for an everyday sustainability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Designed for simple, everyday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20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603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🏠 Households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828800"/>
            <a:ext cx="1920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5603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🎓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1828800"/>
            <a:ext cx="1920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25603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🏫 Institutions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5" y="1828800"/>
            <a:ext cx="1920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5" y="25603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🏢 Offices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10928" y="1828800"/>
            <a:ext cx="1920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02367" y="25603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🌱 Communities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From a simple waste description to actionable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86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011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E7D5C"/>
                </a:solidFill>
              </a:defRPr>
            </a:pPr>
            <a:r>
              <a:t>1  Describe</a:t>
            </a:r>
          </a:p>
          <a:p>
            <a:pPr algn="ctr">
              <a:defRPr sz="1100">
                <a:solidFill>
                  <a:srgbClr val="596D63"/>
                </a:solidFill>
              </a:defRPr>
            </a:pPr>
            <a:r>
              <a:t>“Old mobile phone”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286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148840"/>
            <a:ext cx="2011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E7D5C"/>
                </a:solidFill>
              </a:defRPr>
            </a:pPr>
            <a:r>
              <a:t>2  Predict</a:t>
            </a:r>
          </a:p>
          <a:p>
            <a:pPr algn="ctr">
              <a:defRPr sz="1100">
                <a:solidFill>
                  <a:srgbClr val="596D63"/>
                </a:solidFill>
              </a:defRPr>
            </a:pPr>
            <a:r>
              <a:t>AI/ML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2286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2011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E7D5C"/>
                </a:solidFill>
              </a:defRPr>
            </a:pPr>
            <a:r>
              <a:t>3  Retrieve</a:t>
            </a:r>
          </a:p>
          <a:p>
            <a:pPr algn="ctr">
              <a:defRPr sz="1100">
                <a:solidFill>
                  <a:srgbClr val="596D63"/>
                </a:solidFill>
              </a:defRPr>
            </a:pPr>
            <a:r>
              <a:t>Structured guidance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828800"/>
            <a:ext cx="2286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148840"/>
            <a:ext cx="2011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E7D5C"/>
                </a:solidFill>
              </a:defRPr>
            </a:pPr>
            <a:r>
              <a:t>4  Guide</a:t>
            </a:r>
          </a:p>
          <a:p>
            <a:pPr algn="ctr">
              <a:defRPr sz="1100">
                <a:solidFill>
                  <a:srgbClr val="596D63"/>
                </a:solidFill>
              </a:defRPr>
            </a:pPr>
            <a:r>
              <a:t>Disposal + eco 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AI / ML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Core functionality works without an external API</a:t>
            </a:r>
          </a:p>
        </p:txBody>
      </p:sp>
      <p:pic>
        <p:nvPicPr>
          <p:cNvPr id="5" name="Picture 4" descr="syste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10881360" cy="41349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7548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96D63"/>
                </a:solidFill>
              </a:defRPr>
            </a:pPr>
            <a:r>
              <a:t>Optional: Gemini generative AI can turn the structured result into a concise conversational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Lightweight tools suitable for a student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Python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Application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691640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Streamlit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Interactive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691640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Pandas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39" y="14173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7" y="1691640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Scikit-learn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49039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TF-IDF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Text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4747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3749039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Logistic Regression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749039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Gemini API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Optional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347472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7" y="3749039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3027"/>
                </a:solidFill>
              </a:defRPr>
            </a:pPr>
            <a:r>
              <a:t>GitHub</a:t>
            </a:r>
          </a:p>
          <a:p>
            <a:pPr algn="ctr">
              <a:defRPr sz="1000">
                <a:solidFill>
                  <a:srgbClr val="596D63"/>
                </a:solidFill>
              </a:defRPr>
            </a:pPr>
            <a:r>
              <a:t>Version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Prototype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Simple enough for beginners, structured enough for a demo</a:t>
            </a:r>
          </a:p>
        </p:txBody>
      </p:sp>
      <p:pic>
        <p:nvPicPr>
          <p:cNvPr id="5" name="Picture 4" descr="syste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6217920" cy="2362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6002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Waste description input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Predicted category and material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Disposal / recycling guidance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Sustainability tip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Dataset Insights + Responsible AI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Example: “Old mobile phone”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6D63"/>
                </a:solidFill>
              </a:defRPr>
            </a:pPr>
            <a:r>
              <a:t>Predicted Category</a:t>
            </a:r>
          </a:p>
          <a:p>
            <a:pPr algn="ctr">
              <a:defRPr sz="2100" b="1">
                <a:solidFill>
                  <a:srgbClr val="1C3027"/>
                </a:solidFill>
              </a:defRPr>
            </a:pPr>
            <a:r>
              <a:t>E-waste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6D63"/>
                </a:solidFill>
              </a:defRPr>
            </a:pPr>
            <a:r>
              <a:t>Material</a:t>
            </a:r>
          </a:p>
          <a:p>
            <a:pPr algn="ctr">
              <a:defRPr sz="2100" b="1">
                <a:solidFill>
                  <a:srgbClr val="1C3027"/>
                </a:solidFill>
              </a:defRPr>
            </a:pPr>
            <a:r>
              <a:t>Electronic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6459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96D63"/>
                </a:solidFill>
              </a:defRPr>
            </a:pPr>
            <a:r>
              <a:t>Guidance</a:t>
            </a:r>
          </a:p>
          <a:p>
            <a:pPr algn="ctr">
              <a:defRPr sz="2100" b="1">
                <a:solidFill>
                  <a:srgbClr val="1C3027"/>
                </a:solidFill>
              </a:defRPr>
            </a:pPr>
            <a:r>
              <a:t>Special disposal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1E1C"/>
                </a:solidFill>
              </a:defRPr>
            </a:pPr>
            <a:r>
              <a:t>• Recommended action: use an appropriate e-waste collection / recycling route.</a:t>
            </a:r>
          </a:p>
          <a:p>
            <a:pPr>
              <a:spcAft>
                <a:spcPts val="1200"/>
              </a:spcAft>
              <a:defRPr sz="1800">
                <a:solidFill>
                  <a:srgbClr val="191E1C"/>
                </a:solidFill>
              </a:defRPr>
            </a:pPr>
            <a:r>
              <a:t>• 🌱 Eco tip: repair, reuse or responsibly recycle electronics.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Dataset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Representative prototype dataset</a:t>
            </a:r>
          </a:p>
        </p:txBody>
      </p:sp>
      <p:pic>
        <p:nvPicPr>
          <p:cNvPr id="5" name="Picture 4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675120" cy="3769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60020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29 representative waste-item records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Material + category + guidance + eco tip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Designed for demonstration and learning</a:t>
            </a:r>
          </a:p>
          <a:p>
            <a:pPr>
              <a:spcAft>
                <a:spcPts val="1200"/>
              </a:spcAft>
              <a:defRPr sz="1600">
                <a:solidFill>
                  <a:srgbClr val="191E1C"/>
                </a:solidFill>
              </a:defRPr>
            </a:pPr>
            <a:r>
              <a:t>• Can be expanded with validated real-world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Built into the prototype, not added as an afterthought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D5C"/>
                </a:solidFill>
              </a:defRPr>
            </a:pPr>
            <a:r>
              <a:t>Fairness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No personal or demographic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D5C"/>
                </a:solidFill>
              </a:defRPr>
            </a:pPr>
            <a:r>
              <a:t>Transparency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Model and workflow are disclosed.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1732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4592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D5C"/>
                </a:solidFill>
              </a:defRPr>
            </a:pPr>
            <a:r>
              <a:t>Ethics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Avoids unsupported universal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D5C"/>
                </a:solidFill>
              </a:defRPr>
            </a:pPr>
            <a:r>
              <a:t>Privacy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No personal data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7947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D5C"/>
                </a:solidFill>
              </a:defRPr>
            </a:pPr>
            <a:r>
              <a:t>Safety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Special waste is flagged.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566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79476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D5C"/>
                </a:solidFill>
              </a:defRPr>
            </a:pPr>
            <a:r>
              <a:t>Local context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Verify local rules.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Testing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Representative inputs for prototype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27"/>
                </a:solidFill>
              </a:defRPr>
            </a:pPr>
            <a:r>
              <a:t>Plastic bottle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Expected: Plastic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173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7335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27"/>
                </a:solidFill>
              </a:defRPr>
            </a:pPr>
            <a:r>
              <a:t>Banana peel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Expected: Organic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173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7335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27"/>
                </a:solidFill>
              </a:defRPr>
            </a:pPr>
            <a:r>
              <a:t>Newspaper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Expected: Paper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27"/>
                </a:solidFill>
              </a:defRPr>
            </a:pPr>
            <a:r>
              <a:t>Old mobile phone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Expected: E-waste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63931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27"/>
                </a:solidFill>
              </a:defRPr>
            </a:pPr>
            <a:r>
              <a:t>Used battery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Expected: Hazardous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63931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27"/>
                </a:solidFill>
              </a:defRPr>
            </a:pPr>
            <a:r>
              <a:t>Old clothes</a:t>
            </a:r>
          </a:p>
          <a:p>
            <a:pPr>
              <a:defRPr sz="1050">
                <a:solidFill>
                  <a:srgbClr val="596D63"/>
                </a:solidFill>
              </a:defRPr>
            </a:pPr>
            <a:r>
              <a:t>Expected: Textile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What could change if the solution is adopted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Make basic waste categories easier to understand.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Support more informed everyday disposal decisions.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Encourage recycling, reuse and composting where appropriate.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Provide a scalable starting point for localized sustainability guidance.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Demonstrate responsible AI applied to a real-world sustainability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i="1">
                <a:solidFill>
                  <a:srgbClr val="596D63"/>
                </a:solidFill>
              </a:defRPr>
            </a:pPr>
            <a:r>
              <a:t>Expected/planned impact only — the prototype does not claim measured environmental reduction.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Important boundaries of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Small representative dataset — not a comprehensive waste database.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Waste-management and recycling rules differ by location.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Ambiguous descriptions may reduce classification reliability.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Real deployment requires broader validation and authoritative local data.</a:t>
            </a:r>
          </a:p>
          <a:p>
            <a:pPr>
              <a:spcAft>
                <a:spcPts val="1200"/>
              </a:spcAft>
              <a:defRPr sz="1900">
                <a:solidFill>
                  <a:srgbClr val="191E1C"/>
                </a:solidFill>
              </a:defRPr>
            </a:pPr>
            <a:r>
              <a:t>• Generative-AI responses should be verified and must not override official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27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96D63"/>
                </a:solidFill>
              </a:defRPr>
            </a:pPr>
            <a:r>
              <a:t>From student prototype to a richer sustainability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027"/>
                </a:solidFill>
              </a:defRPr>
            </a:pPr>
            <a:r>
              <a:t>📷 Image-based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7160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627632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027"/>
                </a:solidFill>
              </a:defRPr>
            </a:pPr>
            <a:r>
              <a:t>📚 RAG with verified municipal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027"/>
                </a:solidFill>
              </a:defRPr>
            </a:pPr>
            <a:r>
              <a:t>🌐 Multilingual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88036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3136391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027"/>
                </a:solidFill>
              </a:defRPr>
            </a:pPr>
            <a:r>
              <a:t>📍 Local collection-point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8912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45152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027"/>
                </a:solidFill>
              </a:defRPr>
            </a:pPr>
            <a:r>
              <a:t>📱 Mobile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38912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4645152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027"/>
                </a:solidFill>
              </a:defRPr>
            </a:pPr>
            <a:r>
              <a:t>🔄 Feedback-based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Paras</a:t>
            </a:r>
          </a:p>
          <a:p>
            <a:pPr algn="ctr">
              <a:defRPr sz="2200">
                <a:solidFill>
                  <a:srgbClr val="B4DCC3"/>
                </a:solidFill>
              </a:defRPr>
            </a:pPr>
            <a:r>
              <a:t>AI + Python + Sustainability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 practical prototype aligned with SDG 12 and designed with responsible AI principles.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96D6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